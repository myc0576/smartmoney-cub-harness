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4160" y="243840"/>
            <a:ext cx="11663680" cy="6370320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96240"/>
            <a:ext cx="599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SmartMoney Cub Agent Interaction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6600"/>
            <a:ext cx="685800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把外部 Agent 变成“本地只读复盘大脑”的协作图 / Turning external agents into a local read-only review brain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016000"/>
            <a:ext cx="1346200" cy="223520"/>
          </a:xfrm>
          <a:prstGeom prst="roundRect">
            <a:avLst>
              <a:gd name="adj" fmla="val 40909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8160" y="1076960"/>
            <a:ext cx="122428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Bring your own agent.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05000" y="1016000"/>
            <a:ext cx="1803400" cy="223520"/>
          </a:xfrm>
          <a:prstGeom prst="roundRect">
            <a:avLst>
              <a:gd name="adj" fmla="val 40909"/>
            </a:avLst>
          </a:prstGeom>
          <a:solidFill>
            <a:srgbClr val="F0FDF4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076960"/>
            <a:ext cx="168148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embedded LLM API required.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10000" y="1016000"/>
            <a:ext cx="1574800" cy="223520"/>
          </a:xfrm>
          <a:prstGeom prst="roundRect">
            <a:avLst>
              <a:gd name="adj" fmla="val 40909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70960" y="1076960"/>
            <a:ext cx="145288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trading logic stays local.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320800"/>
            <a:ext cx="314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Agents / 外部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528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680" y="164592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680" y="1671320"/>
            <a:ext cx="1828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1040" y="1635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710" dirty="0"/>
          </a:p>
        </p:txBody>
      </p:sp>
      <p:sp>
        <p:nvSpPr>
          <p:cNvPr id="16" name="Text 14"/>
          <p:cNvSpPr/>
          <p:nvPr/>
        </p:nvSpPr>
        <p:spPr>
          <a:xfrm>
            <a:off x="701040" y="1762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CLI</a:t>
            </a:r>
            <a:endParaRPr lang="en-US" sz="540" dirty="0"/>
          </a:p>
        </p:txBody>
      </p:sp>
      <p:sp>
        <p:nvSpPr>
          <p:cNvPr id="17" name="Shape 15"/>
          <p:cNvSpPr/>
          <p:nvPr/>
        </p:nvSpPr>
        <p:spPr>
          <a:xfrm>
            <a:off x="1026160" y="1554480"/>
            <a:ext cx="528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640" y="1645920"/>
            <a:ext cx="182880" cy="18288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6640" y="1671320"/>
            <a:ext cx="1828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70000" y="1635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endParaRPr lang="en-US" sz="710" dirty="0"/>
          </a:p>
        </p:txBody>
      </p:sp>
      <p:sp>
        <p:nvSpPr>
          <p:cNvPr id="21" name="Text 19"/>
          <p:cNvSpPr/>
          <p:nvPr/>
        </p:nvSpPr>
        <p:spPr>
          <a:xfrm>
            <a:off x="1270000" y="1762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</a:t>
            </a:r>
            <a:endParaRPr lang="en-US" sz="540" dirty="0"/>
          </a:p>
        </p:txBody>
      </p:sp>
      <p:sp>
        <p:nvSpPr>
          <p:cNvPr id="22" name="Shape 20"/>
          <p:cNvSpPr/>
          <p:nvPr/>
        </p:nvSpPr>
        <p:spPr>
          <a:xfrm>
            <a:off x="1595120" y="1554480"/>
            <a:ext cx="528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25600" y="164592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25600" y="1671320"/>
            <a:ext cx="1828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38960" y="1635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</a:t>
            </a:r>
            <a:endParaRPr lang="en-US" sz="710" dirty="0"/>
          </a:p>
        </p:txBody>
      </p:sp>
      <p:sp>
        <p:nvSpPr>
          <p:cNvPr id="26" name="Text 24"/>
          <p:cNvSpPr/>
          <p:nvPr/>
        </p:nvSpPr>
        <p:spPr>
          <a:xfrm>
            <a:off x="1838960" y="1762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 agent</a:t>
            </a:r>
            <a:endParaRPr lang="en-US" sz="540" dirty="0"/>
          </a:p>
        </p:txBody>
      </p:sp>
      <p:sp>
        <p:nvSpPr>
          <p:cNvPr id="27" name="Shape 25"/>
          <p:cNvSpPr/>
          <p:nvPr/>
        </p:nvSpPr>
        <p:spPr>
          <a:xfrm>
            <a:off x="2164080" y="1554480"/>
            <a:ext cx="528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164592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1671320"/>
            <a:ext cx="1828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07920" y="1635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</a:t>
            </a:r>
            <a:endParaRPr lang="en-US" sz="710" dirty="0"/>
          </a:p>
        </p:txBody>
      </p:sp>
      <p:sp>
        <p:nvSpPr>
          <p:cNvPr id="31" name="Text 29"/>
          <p:cNvSpPr/>
          <p:nvPr/>
        </p:nvSpPr>
        <p:spPr>
          <a:xfrm>
            <a:off x="2407920" y="1762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2733040" y="1554480"/>
            <a:ext cx="528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63520" y="16459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63520" y="1671320"/>
            <a:ext cx="1828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76880" y="1635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2976880" y="1762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540" dirty="0"/>
          </a:p>
        </p:txBody>
      </p:sp>
      <p:sp>
        <p:nvSpPr>
          <p:cNvPr id="37" name="Shape 35"/>
          <p:cNvSpPr/>
          <p:nvPr/>
        </p:nvSpPr>
        <p:spPr>
          <a:xfrm>
            <a:off x="3302000" y="1554480"/>
            <a:ext cx="52832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2480" y="1645920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2480" y="1671320"/>
            <a:ext cx="18288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45840" y="1635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Other</a:t>
            </a:r>
            <a:endParaRPr lang="en-US" sz="710" dirty="0"/>
          </a:p>
        </p:txBody>
      </p:sp>
      <p:sp>
        <p:nvSpPr>
          <p:cNvPr id="41" name="Text 39"/>
          <p:cNvSpPr/>
          <p:nvPr/>
        </p:nvSpPr>
        <p:spPr>
          <a:xfrm>
            <a:off x="3545840" y="1762760"/>
            <a:ext cx="264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agents</a:t>
            </a:r>
            <a:endParaRPr lang="en-US" sz="540" dirty="0"/>
          </a:p>
        </p:txBody>
      </p:sp>
      <p:sp>
        <p:nvSpPr>
          <p:cNvPr id="42" name="Text 40"/>
          <p:cNvSpPr/>
          <p:nvPr/>
        </p:nvSpPr>
        <p:spPr>
          <a:xfrm>
            <a:off x="457200" y="2016760"/>
            <a:ext cx="314960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Compatible external tools / 可兼容的外部工具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457200" y="2164080"/>
            <a:ext cx="330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Logos are trademarks of their respective owners and are used only to indicate compatibility.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4368800" y="1574800"/>
            <a:ext cx="185420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4318000" y="1386840"/>
            <a:ext cx="19812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Agents -&gt; Harness: read AGENTS.md / CLAUDE.md / harness contract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7645400" y="1717040"/>
            <a:ext cx="-1955800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638800" y="1752600"/>
            <a:ext cx="208280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-&gt; External Agents: artifacts for review / 复盘产物回传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457200" y="2529840"/>
            <a:ext cx="314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Read-only Inputs / 只读输入层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2783840"/>
            <a:ext cx="2870200" cy="52832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2783840"/>
            <a:ext cx="60960" cy="528320"/>
          </a:xfrm>
          <a:prstGeom prst="roundRect">
            <a:avLst>
              <a:gd name="adj" fmla="val 6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0240" y="288544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Trading Plan / 交易计划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0240" y="3063240"/>
            <a:ext cx="2489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thesis / 假设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invalidation / 失效条件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time stop / 时间止损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93440" y="3048000"/>
            <a:ext cx="5943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57200" y="3454400"/>
            <a:ext cx="2870200" cy="52832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3454400"/>
            <a:ext cx="60960" cy="528320"/>
          </a:xfrm>
          <a:prstGeom prst="roundRect">
            <a:avLst>
              <a:gd name="adj" fmla="val 60000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0240" y="35560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Notes &amp; Screenshots / 本地笔记与截图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50240" y="3733800"/>
            <a:ext cx="2489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CSV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screenshot / 截图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markdown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3440" y="3718560"/>
            <a:ext cx="59436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57200" y="4124960"/>
            <a:ext cx="2870200" cy="52832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4124960"/>
            <a:ext cx="60960" cy="528320"/>
          </a:xfrm>
          <a:prstGeom prst="roundRect">
            <a:avLst>
              <a:gd name="adj" fmla="val 6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0240" y="422656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Research Reports / 外部研究报告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50240" y="4404360"/>
            <a:ext cx="2489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TradingAgents report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UZI-Skill notes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public research / 公开研究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393440" y="4389120"/>
            <a:ext cx="5943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7200" y="4795520"/>
            <a:ext cx="2870200" cy="52832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4795520"/>
            <a:ext cx="60960" cy="528320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0240" y="489712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Toy Offline Fixtures / toy 离线样例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50240" y="5074920"/>
            <a:ext cx="2489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examples only / 仅示例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no private data / 不含私有数据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393440" y="5059680"/>
            <a:ext cx="59436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064000" y="1854200"/>
            <a:ext cx="3860800" cy="3556000"/>
          </a:xfrm>
          <a:prstGeom prst="roundRect">
            <a:avLst>
              <a:gd name="adj" fmla="val 3143"/>
            </a:avLst>
          </a:prstGeom>
          <a:solidFill>
            <a:srgbClr val="EAF4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36720" y="2032000"/>
            <a:ext cx="3515360" cy="6299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2184400"/>
            <a:ext cx="2641600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SmartMoney Cub Harness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4389120" y="2468880"/>
            <a:ext cx="314960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External Review Brain · No embedded LLM API · Read-only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389120" y="2621280"/>
            <a:ext cx="26416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本地外置复盘大脑 · 无内置 LLM API · 只读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624320" y="1920240"/>
            <a:ext cx="1127760" cy="172720"/>
          </a:xfrm>
          <a:prstGeom prst="roundRect">
            <a:avLst>
              <a:gd name="adj" fmla="val 41176"/>
            </a:avLst>
          </a:prstGeom>
          <a:solidFill>
            <a:srgbClr val="FFF1F2"/>
          </a:solidFill>
          <a:ln w="8890">
            <a:solidFill>
              <a:srgbClr val="FECA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75120" y="1965960"/>
            <a:ext cx="102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auto-trading / 非自动交易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4241800" y="2743200"/>
            <a:ext cx="1681480" cy="72136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6510">
            <a:solidFill>
              <a:srgbClr val="BFDBF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53560" y="2834640"/>
            <a:ext cx="1473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&amp; Provenance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清单与溯源</a:t>
            </a:r>
            <a:endParaRPr lang="en-US" sz="980" dirty="0"/>
          </a:p>
        </p:txBody>
      </p:sp>
      <p:sp>
        <p:nvSpPr>
          <p:cNvPr id="78" name="Text 76"/>
          <p:cNvSpPr/>
          <p:nvPr/>
        </p:nvSpPr>
        <p:spPr>
          <a:xfrm>
            <a:off x="4353560" y="3119120"/>
            <a:ext cx="14478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available_at &lt;= decision_time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anti-future-leakage</a:t>
            </a:r>
            <a:endParaRPr lang="en-US" sz="790" dirty="0"/>
          </a:p>
        </p:txBody>
      </p:sp>
      <p:sp>
        <p:nvSpPr>
          <p:cNvPr id="79" name="Shape 77"/>
          <p:cNvSpPr/>
          <p:nvPr/>
        </p:nvSpPr>
        <p:spPr>
          <a:xfrm>
            <a:off x="6065520" y="2743200"/>
            <a:ext cx="1681480" cy="72136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6510">
            <a:solidFill>
              <a:srgbClr val="BFDBF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77280" y="2834640"/>
            <a:ext cx="1473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Capture / 运行捕获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6177280" y="3078480"/>
            <a:ext cx="14478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stdout / stderr / metadata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trace.jsonl</a:t>
            </a:r>
            <a:endParaRPr lang="en-US" sz="790" dirty="0"/>
          </a:p>
        </p:txBody>
      </p:sp>
      <p:sp>
        <p:nvSpPr>
          <p:cNvPr id="82" name="Shape 80"/>
          <p:cNvSpPr/>
          <p:nvPr/>
        </p:nvSpPr>
        <p:spPr>
          <a:xfrm>
            <a:off x="4241800" y="3556000"/>
            <a:ext cx="1681480" cy="72136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6510">
            <a:solidFill>
              <a:srgbClr val="C4B5F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53560" y="3647440"/>
            <a:ext cx="1473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Record / 决策记录</a:t>
            </a:r>
            <a:endParaRPr lang="en-US" sz="980" dirty="0"/>
          </a:p>
        </p:txBody>
      </p:sp>
      <p:sp>
        <p:nvSpPr>
          <p:cNvPr id="84" name="Text 82"/>
          <p:cNvSpPr/>
          <p:nvPr/>
        </p:nvSpPr>
        <p:spPr>
          <a:xfrm>
            <a:off x="4353560" y="3891280"/>
            <a:ext cx="14478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plan / 计划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evidence / 证据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risk contract / 风险约束</a:t>
            </a:r>
            <a:endParaRPr lang="en-US" sz="790" dirty="0"/>
          </a:p>
        </p:txBody>
      </p:sp>
      <p:sp>
        <p:nvSpPr>
          <p:cNvPr id="85" name="Shape 83"/>
          <p:cNvSpPr/>
          <p:nvPr/>
        </p:nvSpPr>
        <p:spPr>
          <a:xfrm>
            <a:off x="6065520" y="3556000"/>
            <a:ext cx="1681480" cy="72136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6510">
            <a:solidFill>
              <a:srgbClr val="C4B5F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77280" y="3647440"/>
            <a:ext cx="1473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/ D3 Outcome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D1-D3 结果验证</a:t>
            </a:r>
            <a:endParaRPr lang="en-US" sz="980" dirty="0"/>
          </a:p>
        </p:txBody>
      </p:sp>
      <p:sp>
        <p:nvSpPr>
          <p:cNvPr id="87" name="Text 85"/>
          <p:cNvSpPr/>
          <p:nvPr/>
        </p:nvSpPr>
        <p:spPr>
          <a:xfrm>
            <a:off x="6177280" y="3931920"/>
            <a:ext cx="14478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delayed review / 延迟评估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toy or local data / toy 或本地数据</a:t>
            </a:r>
            <a:endParaRPr lang="en-US" sz="790" dirty="0"/>
          </a:p>
        </p:txBody>
      </p:sp>
      <p:sp>
        <p:nvSpPr>
          <p:cNvPr id="88" name="Shape 86"/>
          <p:cNvSpPr/>
          <p:nvPr/>
        </p:nvSpPr>
        <p:spPr>
          <a:xfrm>
            <a:off x="4241800" y="4368800"/>
            <a:ext cx="1681480" cy="72136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6510">
            <a:solidFill>
              <a:srgbClr val="86EFA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53560" y="4460240"/>
            <a:ext cx="1473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Evaluator / 评估器</a:t>
            </a:r>
            <a:endParaRPr lang="en-US" sz="980" dirty="0"/>
          </a:p>
        </p:txBody>
      </p:sp>
      <p:sp>
        <p:nvSpPr>
          <p:cNvPr id="90" name="Text 88"/>
          <p:cNvSpPr/>
          <p:nvPr/>
        </p:nvSpPr>
        <p:spPr>
          <a:xfrm>
            <a:off x="4353560" y="4704080"/>
            <a:ext cx="14478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score / 评分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risk check / 风险检查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evidence audit / 证据审计</a:t>
            </a:r>
            <a:endParaRPr lang="en-US" sz="790" dirty="0"/>
          </a:p>
        </p:txBody>
      </p:sp>
      <p:sp>
        <p:nvSpPr>
          <p:cNvPr id="91" name="Shape 89"/>
          <p:cNvSpPr/>
          <p:nvPr/>
        </p:nvSpPr>
        <p:spPr>
          <a:xfrm>
            <a:off x="6065520" y="4368800"/>
            <a:ext cx="1681480" cy="72136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6510">
            <a:solidFill>
              <a:srgbClr val="86EFA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77280" y="4460240"/>
            <a:ext cx="1473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&amp; Rule Registry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记忆与规则注册表</a:t>
            </a:r>
            <a:endParaRPr lang="en-US" sz="980" dirty="0"/>
          </a:p>
        </p:txBody>
      </p:sp>
      <p:sp>
        <p:nvSpPr>
          <p:cNvPr id="93" name="Text 91"/>
          <p:cNvSpPr/>
          <p:nvPr/>
        </p:nvSpPr>
        <p:spPr>
          <a:xfrm>
            <a:off x="6177280" y="4744720"/>
            <a:ext cx="14478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memory.md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challenger -&gt; champion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human gated / 人工把关</a:t>
            </a:r>
            <a:endParaRPr lang="en-US" sz="790" dirty="0"/>
          </a:p>
        </p:txBody>
      </p:sp>
      <p:sp>
        <p:nvSpPr>
          <p:cNvPr id="94" name="Text 92"/>
          <p:cNvSpPr/>
          <p:nvPr/>
        </p:nvSpPr>
        <p:spPr>
          <a:xfrm>
            <a:off x="9042400" y="2499360"/>
            <a:ext cx="2743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Review / Rule Governance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 / 规则治理</a:t>
            </a:r>
            <a:endParaRPr lang="en-US" sz="1250" dirty="0"/>
          </a:p>
        </p:txBody>
      </p:sp>
      <p:sp>
        <p:nvSpPr>
          <p:cNvPr id="95" name="Shape 93"/>
          <p:cNvSpPr/>
          <p:nvPr/>
        </p:nvSpPr>
        <p:spPr>
          <a:xfrm>
            <a:off x="9042400" y="2870200"/>
            <a:ext cx="2692400" cy="1483360"/>
          </a:xfrm>
          <a:prstGeom prst="roundRect">
            <a:avLst>
              <a:gd name="adj" fmla="val 6849"/>
            </a:avLst>
          </a:prstGeom>
          <a:solidFill>
            <a:srgbClr val="ECFDF5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174480" y="3053080"/>
            <a:ext cx="406400" cy="40640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281160" y="3159760"/>
            <a:ext cx="193040" cy="193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672320" y="3068320"/>
            <a:ext cx="172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Trader / 人工交易者</a:t>
            </a:r>
            <a:endParaRPr lang="en-US" sz="1540" dirty="0"/>
          </a:p>
        </p:txBody>
      </p:sp>
      <p:sp>
        <p:nvSpPr>
          <p:cNvPr id="99" name="Text 97"/>
          <p:cNvSpPr/>
          <p:nvPr/>
        </p:nvSpPr>
        <p:spPr>
          <a:xfrm>
            <a:off x="9672320" y="3327400"/>
            <a:ext cx="11176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reviewer / manager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9276080" y="3667760"/>
            <a:ext cx="228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reviews artifacts / 审阅产物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approves promotion / 批准升级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owns final judgment / 保留最终判断</a:t>
            </a:r>
            <a:endParaRPr lang="en-US" sz="1010" dirty="0"/>
          </a:p>
        </p:txBody>
      </p:sp>
      <p:sp>
        <p:nvSpPr>
          <p:cNvPr id="101" name="Shape 99"/>
          <p:cNvSpPr/>
          <p:nvPr/>
        </p:nvSpPr>
        <p:spPr>
          <a:xfrm>
            <a:off x="7975600" y="3352800"/>
            <a:ext cx="985520" cy="0"/>
          </a:xfrm>
          <a:prstGeom prst="line">
            <a:avLst/>
          </a:prstGeom>
          <a:noFill/>
          <a:ln w="304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7975600" y="2966720"/>
            <a:ext cx="1036320" cy="3251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BBF7D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26400" y="3017520"/>
            <a:ext cx="93472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packet</a:t>
            </a:r>
            <a:endParaRPr lang="en-US" sz="820" dirty="0"/>
          </a:p>
        </p:txBody>
      </p:sp>
      <p:sp>
        <p:nvSpPr>
          <p:cNvPr id="104" name="Text 102"/>
          <p:cNvSpPr/>
          <p:nvPr/>
        </p:nvSpPr>
        <p:spPr>
          <a:xfrm>
            <a:off x="8026400" y="3129280"/>
            <a:ext cx="934720" cy="16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loop_report.md · case_record.json</a:t>
            </a:r>
            <a:endParaRPr lang="en-US" sz="520" dirty="0"/>
          </a:p>
          <a:p>
            <a:pPr algn="ctr" indent="0" marL="0">
              <a:buNone/>
            </a:pPr>
            <a:r>
              <a:rPr lang="en-US" sz="5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memory.md · promotion_packet.json</a:t>
            </a:r>
            <a:endParaRPr lang="en-US" sz="520" dirty="0"/>
          </a:p>
        </p:txBody>
      </p:sp>
      <p:sp>
        <p:nvSpPr>
          <p:cNvPr id="105" name="Shape 103"/>
          <p:cNvSpPr/>
          <p:nvPr/>
        </p:nvSpPr>
        <p:spPr>
          <a:xfrm>
            <a:off x="8961120" y="4043680"/>
            <a:ext cx="-985520" cy="0"/>
          </a:xfrm>
          <a:prstGeom prst="line">
            <a:avLst/>
          </a:prstGeom>
          <a:noFill/>
          <a:ln w="304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6" name="Text 104"/>
          <p:cNvSpPr/>
          <p:nvPr/>
        </p:nvSpPr>
        <p:spPr>
          <a:xfrm>
            <a:off x="7924800" y="4140200"/>
            <a:ext cx="11176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approval only / 仅人工批准</a:t>
            </a:r>
            <a:endParaRPr lang="en-US" sz="820" dirty="0"/>
          </a:p>
        </p:txBody>
      </p:sp>
      <p:sp>
        <p:nvSpPr>
          <p:cNvPr id="107" name="Text 105"/>
          <p:cNvSpPr/>
          <p:nvPr/>
        </p:nvSpPr>
        <p:spPr>
          <a:xfrm>
            <a:off x="9398000" y="4439920"/>
            <a:ext cx="2184400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Broker / Execution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券商 / 执行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9398000" y="4815840"/>
            <a:ext cx="2184400" cy="670560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15240">
            <a:solidFill>
              <a:srgbClr val="FDA4A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601200" y="498856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order router / 下单路由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broker connector / 券商连接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account automation / 账户自动化</a:t>
            </a:r>
            <a:endParaRPr lang="en-US" sz="930" dirty="0"/>
          </a:p>
        </p:txBody>
      </p:sp>
      <p:sp>
        <p:nvSpPr>
          <p:cNvPr id="110" name="Shape 108"/>
          <p:cNvSpPr/>
          <p:nvPr/>
        </p:nvSpPr>
        <p:spPr>
          <a:xfrm>
            <a:off x="7975600" y="5130800"/>
            <a:ext cx="736600" cy="0"/>
          </a:xfrm>
          <a:prstGeom prst="line">
            <a:avLst/>
          </a:prstGeom>
          <a:noFill/>
          <a:ln w="3937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8768080" y="4988560"/>
            <a:ext cx="284480" cy="28448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9052560" y="4988560"/>
            <a:ext cx="-284480" cy="28448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113" name="Text 111"/>
          <p:cNvSpPr/>
          <p:nvPr/>
        </p:nvSpPr>
        <p:spPr>
          <a:xfrm>
            <a:off x="7874000" y="4876800"/>
            <a:ext cx="127000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blocked by design / 设计上禁止</a:t>
            </a:r>
            <a:endParaRPr lang="en-US" sz="880" dirty="0"/>
          </a:p>
        </p:txBody>
      </p:sp>
      <p:sp>
        <p:nvSpPr>
          <p:cNvPr id="114" name="Shape 112"/>
          <p:cNvSpPr/>
          <p:nvPr/>
        </p:nvSpPr>
        <p:spPr>
          <a:xfrm>
            <a:off x="457200" y="5613400"/>
            <a:ext cx="11277600" cy="1041400"/>
          </a:xfrm>
          <a:prstGeom prst="roundRect">
            <a:avLst>
              <a:gd name="adj" fmla="val 8780"/>
            </a:avLst>
          </a:prstGeom>
          <a:solidFill>
            <a:srgbClr val="FFF7F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09600" y="5684520"/>
            <a:ext cx="2032000" cy="11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Boundary / 安全边界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2032000" y="5852160"/>
            <a:ext cx="812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READ_ONLY_NO_ORDER_NO_CANCEL_NO_TRADE</a:t>
            </a:r>
            <a:endParaRPr lang="en-US" sz="2300" dirty="0"/>
          </a:p>
        </p:txBody>
      </p:sp>
      <p:sp>
        <p:nvSpPr>
          <p:cNvPr id="117" name="Text 115"/>
          <p:cNvSpPr/>
          <p:nvPr/>
        </p:nvSpPr>
        <p:spPr>
          <a:xfrm>
            <a:off x="2616200" y="6136640"/>
            <a:ext cx="695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agents may reason, review, and challenge. They must not execute trades.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Agent 可以推理、复盘、质疑，但不能执行交易。</a:t>
            </a:r>
            <a:endParaRPr lang="en-US" sz="920" dirty="0"/>
          </a:p>
        </p:txBody>
      </p:sp>
      <p:sp>
        <p:nvSpPr>
          <p:cNvPr id="118" name="Shape 116"/>
          <p:cNvSpPr/>
          <p:nvPr/>
        </p:nvSpPr>
        <p:spPr>
          <a:xfrm>
            <a:off x="1859280" y="6410960"/>
            <a:ext cx="243840" cy="243840"/>
          </a:xfrm>
          <a:prstGeom prst="ellipse">
            <a:avLst/>
          </a:prstGeom>
          <a:solidFill>
            <a:srgbClr val="FFF7F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894840" y="6446520"/>
            <a:ext cx="172720" cy="17272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120" name="Text 118"/>
          <p:cNvSpPr/>
          <p:nvPr/>
        </p:nvSpPr>
        <p:spPr>
          <a:xfrm>
            <a:off x="2235200" y="6471920"/>
            <a:ext cx="167640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broker connector / 不接券商</a:t>
            </a:r>
            <a:endParaRPr lang="en-US" sz="880" dirty="0"/>
          </a:p>
        </p:txBody>
      </p:sp>
      <p:sp>
        <p:nvSpPr>
          <p:cNvPr id="121" name="Shape 119"/>
          <p:cNvSpPr/>
          <p:nvPr/>
        </p:nvSpPr>
        <p:spPr>
          <a:xfrm>
            <a:off x="4094480" y="6410960"/>
            <a:ext cx="243840" cy="243840"/>
          </a:xfrm>
          <a:prstGeom prst="ellipse">
            <a:avLst/>
          </a:prstGeom>
          <a:solidFill>
            <a:srgbClr val="FFF7F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30040" y="6446520"/>
            <a:ext cx="172720" cy="17272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123" name="Text 121"/>
          <p:cNvSpPr/>
          <p:nvPr/>
        </p:nvSpPr>
        <p:spPr>
          <a:xfrm>
            <a:off x="4470400" y="6471920"/>
            <a:ext cx="167640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order placement / 不下单</a:t>
            </a:r>
            <a:endParaRPr lang="en-US" sz="880" dirty="0"/>
          </a:p>
        </p:txBody>
      </p:sp>
      <p:sp>
        <p:nvSpPr>
          <p:cNvPr id="124" name="Shape 122"/>
          <p:cNvSpPr/>
          <p:nvPr/>
        </p:nvSpPr>
        <p:spPr>
          <a:xfrm>
            <a:off x="6329680" y="6410960"/>
            <a:ext cx="243840" cy="243840"/>
          </a:xfrm>
          <a:prstGeom prst="ellipse">
            <a:avLst/>
          </a:prstGeom>
          <a:solidFill>
            <a:srgbClr val="FFF7F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365240" y="6446520"/>
            <a:ext cx="172720" cy="17272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126" name="Text 124"/>
          <p:cNvSpPr/>
          <p:nvPr/>
        </p:nvSpPr>
        <p:spPr>
          <a:xfrm>
            <a:off x="6705600" y="6471920"/>
            <a:ext cx="167640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order cancellation / 不撤单</a:t>
            </a:r>
            <a:endParaRPr lang="en-US" sz="880" dirty="0"/>
          </a:p>
        </p:txBody>
      </p:sp>
      <p:sp>
        <p:nvSpPr>
          <p:cNvPr id="127" name="Shape 125"/>
          <p:cNvSpPr/>
          <p:nvPr/>
        </p:nvSpPr>
        <p:spPr>
          <a:xfrm>
            <a:off x="8564880" y="6410960"/>
            <a:ext cx="243840" cy="243840"/>
          </a:xfrm>
          <a:prstGeom prst="ellipse">
            <a:avLst/>
          </a:prstGeom>
          <a:solidFill>
            <a:srgbClr val="FFF7F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600440" y="6446520"/>
            <a:ext cx="172720" cy="17272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129" name="Text 127"/>
          <p:cNvSpPr/>
          <p:nvPr/>
        </p:nvSpPr>
        <p:spPr>
          <a:xfrm>
            <a:off x="8940800" y="6471920"/>
            <a:ext cx="1676400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account automation / 不做账户自动化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SmartMoney Cub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SmartMoney Cub Agent Interaction</dc:title>
  <dc:subject>Agent interaction architecture</dc:subject>
  <dc:creator>SmartMoney Cub Harness</dc:creator>
  <cp:lastModifiedBy>SmartMoney Cub Harness</cp:lastModifiedBy>
  <cp:revision>1</cp:revision>
  <dcterms:created xsi:type="dcterms:W3CDTF">2026-07-06T07:24:20Z</dcterms:created>
  <dcterms:modified xsi:type="dcterms:W3CDTF">2026-07-06T07:24:20Z</dcterms:modified>
</cp:coreProperties>
</file>